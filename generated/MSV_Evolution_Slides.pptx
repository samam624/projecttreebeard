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talk is an engineering retrospective: what changed, which tests drove those changes, and what remains uncertain.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project as a complete measurement system. Later failures occurred in every block, not only at the electrode. ("Why not just buy a $5 resistive sensor" is the question to pre-empt here.)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claiming absolute volumetric water content -- the current goal is a stable, plant-specific moisture indicator.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MSV3 is a probe redesign, not a replacement for the complete receiver/application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story of the presentation. Each transition was driven by measured behavior, not feature expansion for its own sake.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comb is the timing/sense node and the other is grounded. MSV1 was self-contained and did not need a digital receiver. Don't relitigate the whole 555 paper -- 1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pairing for the previous slide's architecture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frequency response was strong. The failure appeared in the later frequency-to-voltage stage, not in the sensing electrode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motivated measuring timing/frequency digitally and postponing the moisture-percentage decision until real calibration data existed -- the seed of every MSV2 design decision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MSV2 was not only a digital rewrite; it extended a benchtop circuit into an end-to-end monitoring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probe reports raw values. The receiver owns moisture mapping so calibration can change without reflashing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MSV2 signal/data flow, paired with the architecture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an EARLIER MSV2 architecture. It also happens to describe Alocasia's current firmware -- see the correction on the next-but-one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a software-timed relaxation oscillator -- "dual plate" describes electrode use, not two independent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CORRECTED 2026-08-29: earlier project docs (including a dedicated fact-check pass) stated Alocasia as dual-plate/56 kΩ, matching Thaumatophyllum's architecture. That is backwards. Verified directly against arduino/MSV2_Moisture_BLE_Sleep_Alocasia/MSV2_Moisture_BLE_Sleep_Alocasia.ino, whose own header comments state single-plate/100k three separate times. "56k" does not appear in any firmware or hardware file in the repository -- only in the generated paper/slide docs. Do not compare the two units' raw numbers, and do not cite Alocasia as evidence for the dual-plate anti-polarization benefit -- it isn't running that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earlier one-shot RC approach failed: 10 kΩ was too fast for software timing, while much larger resistance saturated or was dominated by soil/residual-voltage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"timed low-power / System-ON sleep," not "deepest sleep" or System-OFF -- the distinction matters when discussing power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 collection and HTTPS/TLS compete for time and memory on the same ESP32-S3 -- sequencing became a major reliability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phone is not directly connected to the probe -- this is why receiver firmware is central to both MSV2 and MSV3.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this as ONE observed test result, not a universal BLE packet-loss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MSV2's equivalent of MSV1's range mismatch -- the physical time constant didn't fit the measurement mechanism. Good "field testing beats simulation"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finding helped justify a dedicated frequency/capacitance converter in MSV3.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lesson: a peripheral unused by the application can still dominate the power budget if the board support package initializes it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Aug 25 30-second overlap/in-flight infinite-reload bug SEPARATE from the later server-side Supabase 1000-row-cap pagination fix -- distinct defects, don't conflate.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MSV3 is not yet proven better in soil -- it's designed to remove known MSV2 mechanisms. The remaining slides distinguish verified bring-up from pending field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BLE receiver/cloud family remains downstream, reducing system-level migration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16-bit compatible value lets the existing calibration path continue while the packet also carries higher-resolution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label this an arbitrary N-channel array. Graded EC is NOT operational -- DIV_NODE was routed to non-ADC-capable P0.00.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board has no 32.768 kHz crystal -- selecting LFRC before FreeRTOS/SoftDevice init fixed freezes seen after 115–122 samples. Solar charging of roughly 10 mA was INFERRED, not directly measured. (Sleep-current figure corrected to 65–71 µA -- matches the firmware source's own comment; an earlier fact-check doc had 60–71.)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inferred vs. measured distinction explicit when presenting this slide -- it's one of the most likely questions from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temperature is electronics temperature, not soil temperature. Verify the receiver /device build string immediately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discussion on calibration protocol, reference channels, soil-test design, and energy-neutral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'source,' 'compiled,' 'flashed,' and 'observed live' as different statuses -- see docs/MSV_BUILD_MILESTONE_FACT_CHECK.md for the full reconciled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CORRECTED electrodes row: earlier version of this table said both MSV2 units were 'later alternating dual plate.' Alocasia has not been migrated -- see the correction slide earlier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Evolution of the MSV Soil-Moisture Platform</a:t>
            </a:r>
          </a:p>
          <a:p>
            <a:pPr>
              <a:defRPr sz="2200">
                <a:solidFill>
                  <a:srgbClr val="BFD9EB"/>
                </a:solidFill>
              </a:defRPr>
            </a:pPr>
            <a:r>
              <a:t>From 555-Timer Sensing to a Connected FDC2214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Sam Amezcua — UC Davis, Department of Electrical and Computer Engineering</a:t>
            </a:r>
          </a:p>
          <a:p>
            <a:pPr>
              <a:spcAft>
                <a:spcPts val="600"/>
              </a:spcAft>
              <a:defRPr sz="1600">
                <a:solidFill>
                  <a:srgbClr val="D8E6EF"/>
                </a:solidFill>
              </a:defRPr>
            </a:pPr>
            <a:r>
              <a:t>MSV1 proof of concept → MSV2 connected field platform → MSV3 solar-assisted probe</a:t>
            </a:r>
          </a:p>
          <a:p>
            <a:pPr>
              <a:spcAft>
                <a:spcPts val="600"/>
              </a:spcAft>
              <a:defRPr sz="1600">
                <a:solidFill>
                  <a:srgbClr val="D8E6EF"/>
                </a:solidFill>
              </a:defRPr>
            </a:pPr>
            <a:r>
              <a:t>August 2026 project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Why Soil-Moisture Sensing?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Plants get under- or over-watered because moisture isn't visible.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Low-cost resistive probes corrode and polarize from continuous soil current.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Capacitive electrodes reduce direct DC conduction through the soil.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 practical product also needs low power, communication, calibration, and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Design Objectives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Repeatable moisture response across wet/dry cycles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Minimal long-term electrode polarization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Battery or harvested-energy operation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Wireless raw-data delivery and per-probe calibration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Recoverable local/cloud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Current End-to-End System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Probe: nRF52840-class MCU, capacitive front end, advertise-only BLE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Receiver: ESP32-S3, local TFT interface, calibration, filtering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Backend: Supabase history storage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Client: progressive web application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MSV2 and MSV3 probes feed the same receiver/cloud family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Three Generations at a Glance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2926080"/>
                <a:gridCol w="3383280"/>
              </a:tblGrid>
              <a:tr h="5257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Generation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Measurement principle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Output path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reason to advance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MSV1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555 frequency → analog voltage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LED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Analog range compression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MSV2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GPIO relaxation timing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BLE → receiver/cloud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Timing, supply, and polarization sensitivity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MSV3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FDC2214 resonant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Same receiver/cloud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WIP: validate stability and harvested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MSV1 Architecture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Interdigitated PCB comb as the sensing capacitor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Astable 555: moisture-dependent frequency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Monostable 555: fixed-width pulse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RC low-pass filter: duty cycle to voltage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Comparator + potentiometer + transistor: LED threshold [1]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MSV1 Signal Chain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965960"/>
            <a:ext cx="1005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E4A"/>
                </a:solidFill>
              </a:defRPr>
            </a:pPr>
            <a:r>
              <a:t>MSV1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Comb</a:t>
            </a:r>
            <a:br/>
            <a:r>
              <a:t>electrode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Astable</a:t>
            </a:r>
            <a:br/>
            <a:r>
              <a:t>555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57784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Monostable</a:t>
            </a:r>
            <a:br/>
            <a:r>
              <a:t>555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8096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RC</a:t>
            </a:r>
            <a:br/>
            <a:r>
              <a:t>LPF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6092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8408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Comparator</a:t>
            </a:r>
            <a:br/>
            <a:r>
              <a:t>+ LED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6404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MSV1 Experimental Results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Estimated design range: approximately 80–220 pF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Measured range: 274 pF dry air to approximately 1.25–1.28 nF saturated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Potting soil: about 27 kHz dry → 7.5 kHz wettest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Cactus soil: about 25 kHz dry → 7.7 kHz saturated [1]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Why MSV1 Was Not Enough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MSV1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Actual capacitance greatly exceeded the design estimate.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Filter output compressed to roughly 1.07–1.10 V over much of the range.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100 kΩ hysteresis feedback resistor caused comparator latching.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Removing the feedback resistor stopped latching but produced near-threshold LED flicker (~10 min).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Requirements Inherited by MSV2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Preserve the useful frequency/capacitance relationship.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Eliminate the saturated analog voltage conversion.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Send raw measurements for adjustable, downstream calibration.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Operate from a small rechargeable battery.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Support long-term unattended observation.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MSV2 System Architecture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XIAO nRF52840 Sense probe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Capacitive relaxation oscillator measured in firmware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Non-connectable BLE advertisements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ESP32-S3 wall receiver / display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Per-probe calibration, local history queue, cloud upload, web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MSV2 Signal / Data Flow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965960"/>
            <a:ext cx="1005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E4A"/>
                </a:solidFill>
              </a:defRPr>
            </a:pPr>
            <a:r>
              <a:t>MSV2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Electrodes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nRF52840</a:t>
            </a:r>
            <a:br/>
            <a:r>
              <a:t>GPIO timing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57784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BLE</a:t>
            </a:r>
            <a:br/>
            <a:r>
              <a:t>advertise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8096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ESP32-S3</a:t>
            </a:r>
            <a:br/>
            <a:r>
              <a:t>receiver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6092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84080" y="1828800"/>
            <a:ext cx="1783080" cy="822960"/>
          </a:xfrm>
          <a:prstGeom prst="roundRect">
            <a:avLst/>
          </a:prstGeom>
          <a:solidFill>
            <a:srgbClr val="EBF2F8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2222"/>
                </a:solidFill>
              </a:defRPr>
            </a:pPr>
            <a:r>
              <a:t>Supabase</a:t>
            </a:r>
            <a:br/>
            <a:r>
              <a:t>+ PWA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64040" y="2240280"/>
            <a:ext cx="320040" cy="0"/>
          </a:xfrm>
          <a:prstGeom prst="bentConnector3">
            <a:avLst/>
          </a:prstGeom>
          <a:ln w="19050">
            <a:solidFill>
              <a:srgbClr val="2E8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Historical Single-Ended MSV2 Sensing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MSV2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One electrode driven; return/sense relationship remained fixed.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Firmware charged, floated, and timed discharge behavior.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Simple hardware, but sustained direction raised DC-bias/polarization concerns.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In-soil behavior exposed conductivity and residual-charge effects.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Dual-Plate Alternating MSV2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MSV2 rework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Alternate which physical electrode is driven and which is sensed.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Measure both directions and combine the results.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Reduces one-direction DC bias and exposes electrode asymmetry.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This switching requirement directly motivated the hardware TMUX in MSV3.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Current MSV2 Units: Different Architectures, Not Just Different R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Correction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164592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Field unit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Topology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Pulldown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Consequence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Thaumatophyllum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Dual-plate (alternating)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10 kΩ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Faster discharge; migrated to the anti-polarization rework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Alocasia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Single-plate (fixed direction)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100 kΩ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Slower discharge; NOT yet migrated off the original firmware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5A5A"/>
                </a:solidFill>
              </a:defRPr>
            </a:pPr>
            <a:r>
              <a:t>Source: arduino/MSV2_Moisture_BLE_Sleep_Alocasia/MSV2_Moisture_BLE_Sleep_Alocasia.ino (lines 11-12, 98, 339) and arduino/MSV2_Moisture_BLE_Sleep/MSV2_Moisture_BLE_Sleep.ino (lines 89-90).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MSV2 Measurement Firmware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MSV2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Charge / float / discharge transitions create a relaxation oscillator.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Count activity over a short gate and repeat in bursts.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Median filtering rejects transient outliers.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Advertise raw values; calibrate at the receiver, not on-probe.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MSV2 Power and BLE Strategy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Power/BLE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Approximately 10 s wake/check cadence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Approximately 60 s BLE advertisement cadence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Advertise-only packet; no persistent probe connection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Timed low-power System-ON sleep between work periods (not System-OFF)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Small rechargeable battery and onboard QSPI flash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Receiver Responsibilities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Receiver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Scan continuously for probe advertisements.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Decode probe identity and raw measurement.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Apply per-probe calibration and filtering.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Update TFT / local controls.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Queue history and upload when network/TLS work is safe.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Phone and Cloud Path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Supabase stores measurements, status, and history.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Progressive web app displays current state and trends.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Calibration can adapt per plant/probe.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Lossless queuing and recovery protect readings during outages.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Pagination and caching must be validated at multi-week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July 24: First System-Level Evidence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BLE loss test: 198/200 packets received in 10 min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Observed loss: 1.00%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In-soil RC tests exposed timing-range problems.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History/recovery work began as real data accumulated.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One-Shot RC Approach Failed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Bug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10 kΩ discharge was too fast for reliable software polling.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Very large resistance extended timing but introduced saturation/residual-charge issues.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Soil conductivity made the simple RC model incomplete.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Decision: count a free-running relaxation oscillation instead.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July 25–31: Oscillator and RTC Quantization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Bug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Jul. 25: free-running oscillator method became active.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Six-day data set contained 10,917 readings.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 1 ms sampling gate aligned with the RTC tick and created comb-like plateaus.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 5 ms window reduced, but did not fundamentally remove, software-timing sensitivity.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August 9: Hidden QSPI Battery Drain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Bug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Two 150 mAh probes reached 0% in about 4–6 days.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Puya P25Q16H QSPI flash remained active after initialization.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Excess current was approximately 1.3–1.5 mA.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Explicit deep-power-down/uninitialization corrected both probes.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JEDEC check: awake 0x856015, asleep 0x000000.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Receiver and Interface Bugs (Aug 12–25)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Bug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Blocking TLS uploads interfered with BLE collection.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Touch-controller traffic could corrupt shared SPI/display state.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Stale service-worker assets obscured whether fixes were actually active.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History required lossless batching, recovery, and unbiased filtering.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Pagination failures appeared only at longer (&gt;14-day) time ranges.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Why Build MSV3 at All?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Why MSV3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Move sensing off MCU-timed GPIO polling entirely.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Use a real capacitance-to-digital chip instead of a timing approximation.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Formalize electrode alternation in hardware, not firmware.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Add self-powering via solar energy harvesting.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MSV3 Hardware Architecture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E73-2G4M08S1C / nRF52840 MCU module (no crystal)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FDC2214 capacitance-to-digital converter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TMUX1109 dual 4:1 analog multiplexer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BQ25504 solar harvester + BQ25170 USB charger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TPS7A0233 3.3 V LDO and USB/battery source selection</a:t>
            </a:r>
          </a:p>
        </p:txBody>
      </p:sp>
      <p:pic>
        <p:nvPicPr>
          <p:cNvPr id="4" name="Picture 3" descr="pcb_iso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46304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FDC2214 Resonant Measurement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CH0 LC tank: 6.8 µH + 270 pF fixed components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Electrode capacitance shifts the tank's resonant frequency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FDC2214 reports a 28-bit digital count [2]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Legacy-compatible mapping: (24,000,000 − count) / 100, clamped to 16 bits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Example: 20,243,803 counts → 37,561 transmitted raw value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TMUX1109: Two Electrodes, Four States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Phase 1: capacitance measurement, electrode roles in one direction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Phase 2: capacitance measurement, electrode roles swapped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Phase 3: auxiliary EC-check routing state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Phase 4: bare-tank / reference routing state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Two designed electrodes, four defined states — not an arbitrary N-channel array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MSV3 Bring-Up Results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MSV3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Date (2026)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I2C, FDC2214, mux, and battery-ADC bring-up 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21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LFCLK/RTC1 freeze root-caused and repaired — 900/900 clean samples (was freezing at 115–122)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Sleep current: 65–71 µA → 10–15 µA after GPIO disconnects on VBAT/CHG pins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22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First production probe/receiver observed live end-to-end; 17-byte packet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22 (daylight)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Direct sun: 6 V open circuit, 30 mA short circuit (measured)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MSV3 Solar Harvester Test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Solar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Dim indoor light: 2.7 V open circuit, 50 µA short circuit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Direct sun: 6 V open circuit, 30 mA short circuit — both directly measured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Battery charge current ≥ 10 mA INFERRED (no-solder implied-current method), not ammeter-measured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Aug. 29: a fully-discharged unit was flashed with production sleep-cycling firmware and released to test solar recovery from empty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Result not yet known as of this deck</a:t>
            </a:r>
          </a:p>
        </p:txBody>
      </p:sp>
      <p:pic>
        <p:nvPicPr>
          <p:cNvPr id="4" name="Picture 3" descr="assembly_solar_iso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46304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Current Status and Open Work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Verified /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FDC/mux basic operation, BLE compatibility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LFRC startup, 10–15 µA timed sleep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17-byte high-resolution packet, observed live in production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417320"/>
            <a:ext cx="5303520" cy="50292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Still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0574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Wet-soil calibration and multi-day drift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IDRIVE / ring-down tuning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Overcast duty-cycle and low-battery solar-recovery test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EC ADC bodge / next PCB revision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 23-byte temp/bare-tank diagnostics: compile-tested, not confirmed deployed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Takeaways and Discussion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MSV1 proved the capacitive frequency response but compressed it in analog conversion.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MSV2 delivered the connected platform and revealed clock, power, electrode, and cloud-system interactions.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MSV3 replaces software timing with a dedicated converter and adds hardware routing plus harvested power.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Next success criterion: stable multi-day soil data per unit — not a single bench reading.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Build / Deployment Timeline (Selected)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Backup 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329184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Date (2026)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Evidence level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Jul.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BLE loss test: 198/200 in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Measured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Jul. 31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RTC quantization root cause documented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Data analysis (10,917 readings)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QSPI power fix applied to both probes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Documented live hardware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21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MSV3 LFCLK/RTC1 repair; sleep-leak repair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Bench verified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Full adaptive-calibration rollout; MSV3 production observed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Documented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25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History infinite-reload correction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Documented flashed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26–28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Supabase 1000-row-cap pagination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Source/documented; live status unproven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Aug. 29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MSV3 empty-battery solar-recovery test flashed and released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Directly confirmed this session; result pending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Acceptance Test Matrix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Backup 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834640"/>
                <a:gridCol w="3017520"/>
                <a:gridCol w="329184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Independent variable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Minimum useful result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Wet/dry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Water content/time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FDC raw, reference channel, 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Repeatable direction, bounded hysteresis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Supply sensitivity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Battery voltage/charging state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Raw FDC value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No material mapping shift after compensation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Constant soil condition over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Raw and calibrated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Drift characterized with confidence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Indoor/overcast/direct sun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Harvested current, VBAT, duty cycle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No net loss under the stated lighting profile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Battery below reconnect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Startup sequence and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Defined, repeatable reprime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Version Comparison</a:t>
            </a:r>
          </a:p>
          <a:p>
            <a:pPr>
              <a:defRPr sz="1300">
                <a:solidFill>
                  <a:srgbClr val="BFD9EB"/>
                </a:solidFill>
              </a:defRPr>
            </a:pPr>
            <a:r>
              <a:t>Backup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3931920"/>
                <a:gridCol w="3017520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MSV1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MSV2 (2 field units)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MSV3</a:t>
                      </a:r>
                    </a:p>
                  </a:txBody>
                  <a:tcPr>
                    <a:solidFill>
                      <a:srgbClr val="142E4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Front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555 / LPF / comparator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GPIO relaxation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FDC2214 LC tank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Electrodes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Single comb pair, fixed roles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Thaumatophyllum: dual-plate (10k). Alocasia: single-plate (100k) — not yet migrated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Two electrodes, TMUX four-state routing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None required for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XIAO nRF52840 Sense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E73 nRF52840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LED threshold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BLE + receiver/cloud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Same receiver/cloud, 17-byte packet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AAA battery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Rechargeable battery, timed System-ON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Solar harvester + charger + timed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Main limitation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Analog saturation/flicker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Timing/supply sensitivity, integration defects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Field stability/energy not yet characterized</a:t>
                      </a:r>
                    </a:p>
                  </a:txBody>
                  <a:tcPr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